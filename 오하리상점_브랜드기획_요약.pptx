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C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aeeu\AppData\Local\Temp\claude\C--Users-jaeeu\06f91ebb-a71c-4845-a754-2648e82f428f\scratchpad\img\char-turtle-paper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778240" y="1371600"/>
            <a:ext cx="3108960" cy="3108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기획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85800" y="2286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7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오하리상점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740664" y="34015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 H A R I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85800" y="4114800"/>
            <a:ext cx="1188720" cy="18288"/>
          </a:xfrm>
          <a:prstGeom prst="rect">
            <a:avLst/>
          </a:prstGeom>
          <a:solidFill>
            <a:srgbClr val="5A534C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437083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7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상황에서 출발하는 테이블웨어 선물 편집숍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" y="488289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3~7만 원 · 세트 · 자체 기획 상품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5897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3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2026. 08. 30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86384"/>
            <a:ext cx="95399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장으로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41148" cy="1051560"/>
          </a:xfrm>
          <a:prstGeom prst="rect">
            <a:avLst/>
          </a:prstGeom>
          <a:solidFill>
            <a:srgbClr val="1F1C19"/>
          </a:solidFill>
          <a:ln/>
        </p:spPr>
      </p:sp>
      <p:sp>
        <p:nvSpPr>
          <p:cNvPr id="5" name="Text 3"/>
          <p:cNvSpPr/>
          <p:nvPr/>
        </p:nvSpPr>
        <p:spPr>
          <a:xfrm>
            <a:off x="978408" y="1572768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주는 상황부터 고르게 하고,</a:t>
            </a:r>
            <a:endParaRPr lang="en-US" sz="25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왜 골랐는지 말한 뒤, 우리 그림으로 싸서 보낸다.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85800" y="3063240"/>
            <a:ext cx="342381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337560"/>
            <a:ext cx="2783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3~7만 원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005840" y="4160520"/>
            <a:ext cx="2783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캐주얼 선물 가격대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4480560"/>
            <a:ext cx="27837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55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단품이 아니라 세트로 판다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3938" y="3063240"/>
            <a:ext cx="342381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3978" y="3337560"/>
            <a:ext cx="2783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세트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703978" y="4160520"/>
            <a:ext cx="2783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판매 단위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3978" y="4480560"/>
            <a:ext cx="27837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55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조합이 곧 우리 주장이다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82077" y="3063240"/>
            <a:ext cx="342381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02117" y="3337560"/>
            <a:ext cx="2783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402117" y="4160520"/>
            <a:ext cx="2783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진열 1차 카테고리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02117" y="4480560"/>
            <a:ext cx="27837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55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집들이 · 결혼 · 감사 · 생일 · 나에게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5623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정체성은 “선물가게”, 현재 취급이 “테이블웨어”. 이 순서를 뒤집지 않는다.</a:t>
            </a:r>
            <a:endParaRPr lang="en-US" sz="1300" dirty="0"/>
          </a:p>
        </p:txBody>
      </p:sp>
      <p:pic>
        <p:nvPicPr>
          <p:cNvPr id="19" name="Image 0" descr="C:\Users\jaeeu\AppData\Local\Temp\claude\C--Users-jaeeu\06f91ebb-a71c-4845-a754-2648e82f428f\scratchpad\img\char-turtle-ink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tretch>
            <a:fillRect/>
          </a:stretch>
        </p:blipFill>
        <p:spPr>
          <a:xfrm>
            <a:off x="10820095" y="544068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86384"/>
            <a:ext cx="95399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무엇을, 어떻게 파는가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517904"/>
            <a:ext cx="10820095" cy="658368"/>
          </a:xfrm>
          <a:prstGeom prst="rect">
            <a:avLst/>
          </a:prstGeom>
          <a:solidFill>
            <a:srgbClr val="EFEAE1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" y="15727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63240" y="1572768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8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테이블웨어 세트. 단품은 팔지 않는다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41832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소싱·상품화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63240" y="228600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8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도매 상가에서 사와 자체 기획 세트로 만든다 — 조합 + 자체 패키지·라벨 + 카드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944368"/>
            <a:ext cx="10820095" cy="658368"/>
          </a:xfrm>
          <a:prstGeom prst="rect">
            <a:avLst/>
          </a:prstGeom>
          <a:solidFill>
            <a:srgbClr val="EFEAE1"/>
          </a:solidFill>
          <a:ln/>
        </p:spPr>
      </p:sp>
      <p:sp>
        <p:nvSpPr>
          <p:cNvPr id="10" name="Text 8"/>
          <p:cNvSpPr/>
          <p:nvPr/>
        </p:nvSpPr>
        <p:spPr>
          <a:xfrm>
            <a:off x="941832" y="29992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63240" y="2999232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8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30,000~70,000원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41832" y="371246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63240" y="3712464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8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여성 중심 20대 후반~30대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370832"/>
            <a:ext cx="10820095" cy="658368"/>
          </a:xfrm>
          <a:prstGeom prst="rect">
            <a:avLst/>
          </a:prstGeom>
          <a:solidFill>
            <a:srgbClr val="EFEAE1"/>
          </a:solidFill>
          <a:ln/>
        </p:spPr>
      </p:sp>
      <p:sp>
        <p:nvSpPr>
          <p:cNvPr id="15" name="Text 13"/>
          <p:cNvSpPr/>
          <p:nvPr/>
        </p:nvSpPr>
        <p:spPr>
          <a:xfrm>
            <a:off x="941832" y="442569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취급 분야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63240" y="4425696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8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테이블웨어만. 문구류 등 확장은 보류(폐기 아님)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41832" y="51389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채널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63240" y="5138928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8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자사몰·스마트스토어 → 텐바이텐·아이디어스 → 29CM → 카카오 선물하기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5779008"/>
            <a:ext cx="10820095" cy="713232"/>
          </a:xfrm>
          <a:prstGeom prst="roundRect">
            <a:avLst>
              <a:gd name="adj" fmla="val 7692"/>
            </a:avLst>
          </a:prstGeom>
          <a:solidFill>
            <a:srgbClr val="E8E1D5"/>
          </a:solidFill>
          <a:ln w="12700">
            <a:solidFill>
              <a:srgbClr val="DDD5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779008"/>
            <a:ext cx="101800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상품이 도매라 복제 가능하다. 그래서 우리가 만드는 것은 셋뿐이다 — 조합 · 포장 · 문장.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86384"/>
            <a:ext cx="95399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 나눌 것인가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517904"/>
            <a:ext cx="9722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 = 손님이 가장 먼저 마주치는 상단 메뉴. 같은 그릇을 팔아도 무엇으로 나누느냐에 따라 다른 가게가 된다.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3423818" cy="2286000"/>
          </a:xfrm>
          <a:prstGeom prst="roundRect">
            <a:avLst>
              <a:gd name="adj" fmla="val 2400"/>
            </a:avLst>
          </a:prstGeom>
          <a:solidFill>
            <a:srgbClr val="1F1C19"/>
          </a:solidFill>
          <a:ln w="12700">
            <a:solidFill>
              <a:srgbClr val="DDD5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487168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3035808"/>
            <a:ext cx="2783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FC7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집들이 · 결혼 · 감사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FC7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생일 · 나에게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4023360"/>
            <a:ext cx="2783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· 로파서울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58058" y="2487168"/>
            <a:ext cx="731520" cy="292608"/>
          </a:xfrm>
          <a:prstGeom prst="rect">
            <a:avLst/>
          </a:prstGeom>
          <a:solidFill>
            <a:srgbClr val="F7F3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3938" y="2240280"/>
            <a:ext cx="3423818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3978" y="2487168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작가 · 공방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03978" y="3035808"/>
            <a:ext cx="2783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D38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작가 이름별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3978" y="4023360"/>
            <a:ext cx="2783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요소갤러리 · 쿠도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82077" y="2240280"/>
            <a:ext cx="3423818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02117" y="2487168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402117" y="3035808"/>
            <a:ext cx="2783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D38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접시 · 볼 · 잔 · 컵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02117" y="4023360"/>
            <a:ext cx="2783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소로이샵 · 대부분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8920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1차 카테고리는 상황, 품목은 2차 필터로 내린다.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5800" y="5349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55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“집들이 선물”을 누르고 들어가서 그 안에서 접시·볼로 다시 거른다.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55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반대로 하면 “집들이 선물 뭐 사지”로 들어온 사람이 길을 잃는다 — 요소갤러리의 빈틈이 정확히 그것이다.</a:t>
            </a:r>
            <a:endParaRPr lang="en-US" sz="1400" dirty="0"/>
          </a:p>
        </p:txBody>
      </p:sp>
      <p:pic>
        <p:nvPicPr>
          <p:cNvPr id="20" name="Image 0" descr="C:\Users\jaeeu\AppData\Local\Temp\claude\C--Users-jaeeu\06f91ebb-a71c-4845-a754-2648e82f428f\scratchpad\img\motif-plate-ink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10820095" y="539496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1C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86384"/>
            <a:ext cx="95399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517904"/>
            <a:ext cx="9722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C7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셋으로 걸렀다 — ① 손님이 인지할 것 ② 따라하기 어려울 것 ③ 시간이 갈수록 격차가 벌어질 것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2148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7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고르는 사람의 안목과, 그것이 쌓인 기록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FC7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③을 만족한 건 이것 하나였다. 그림도, 선물 완결 프로세스도, 추천 기능도 넘지 못했다 —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FC7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복제되거나, 대기업이 이미 하고 있거나, 축적이 안 된다.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3703320"/>
            <a:ext cx="10820095" cy="658368"/>
          </a:xfrm>
          <a:prstGeom prst="rect">
            <a:avLst/>
          </a:prstGeom>
          <a:solidFill>
            <a:srgbClr val="2C2825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70332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423160" y="370332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7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조합을 제안한다, 기준을 쓴다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43800" y="37033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하루면 따라한다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4453128"/>
            <a:ext cx="10820095" cy="658368"/>
          </a:xfrm>
          <a:prstGeom prst="rect">
            <a:avLst/>
          </a:prstGeom>
          <a:solidFill>
            <a:srgbClr val="2C2825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45312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423160" y="445312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7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짠 조합, 우리가 쓴 기준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43800" y="445312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우리만큼 고민해야 한다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5202936"/>
            <a:ext cx="10820095" cy="658368"/>
          </a:xfrm>
          <a:prstGeom prst="rect">
            <a:avLst/>
          </a:prstGeom>
          <a:solidFill>
            <a:srgbClr val="F7F3EC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20293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축적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423160" y="520293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8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6개월 · 1년 치가 쌓인 것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43800" y="520293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복제 불가. 시간이 필요하다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런칭 시점에는 여전히 차별점이 없다. 못 찾은 게 아니라 구조상 없는 것이고, 있는 척하면 비용은 나중에 훨씬 커진다.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86384"/>
            <a:ext cx="95399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누구와 겹치는가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517904"/>
            <a:ext cx="9722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선물하기·29CM는 경쟁자가 아니라 우리가 올라갈 매대다. 경쟁자는 그 매대에서 옆에 놓이는 브랜드다.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2533574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487168"/>
            <a:ext cx="20215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요소갤러리 · 쿠도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41832" y="2871216"/>
            <a:ext cx="20215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작가 도자기 편집숍 · 3~8만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41832" y="3273552"/>
            <a:ext cx="20215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D38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작가가 1차 카테고리라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D38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선물 동선이 없다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47974" y="2286000"/>
            <a:ext cx="2533574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4006" y="2487168"/>
            <a:ext cx="20215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여기담기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04006" y="2871216"/>
            <a:ext cx="20215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일러스트 그릇 · 자체 제조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04006" y="3273552"/>
            <a:ext cx="20215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D38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브랜드지 편집숍이 아니다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D38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“한 상”을 못 짠다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0148" y="2286000"/>
            <a:ext cx="2533574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6180" y="2487168"/>
            <a:ext cx="20215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화소반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66180" y="2871216"/>
            <a:ext cx="20215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제조 · 무장식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66180" y="3273552"/>
            <a:ext cx="20215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D38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“장식 없음”은 이미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D38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점유된 자리다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72321" y="2286000"/>
            <a:ext cx="2533574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28353" y="2487168"/>
            <a:ext cx="20215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스마트스토어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28353" y="2871216"/>
            <a:ext cx="20215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도매 · 2~4만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28353" y="3273552"/>
            <a:ext cx="20215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D38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조악한 포장,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D38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브랜드가 없다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4526280"/>
            <a:ext cx="6766560" cy="1600200"/>
          </a:xfrm>
          <a:prstGeom prst="roundRect">
            <a:avLst>
              <a:gd name="adj" fmla="val 3429"/>
            </a:avLst>
          </a:prstGeom>
          <a:solidFill>
            <a:srgbClr val="1F1C19"/>
          </a:solidFill>
          <a:ln w="12700">
            <a:solidFill>
              <a:srgbClr val="DDD5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470916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비어 있는 자리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50292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손그림 톤 + 상황 진열 + 세트 + 3~7만 원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51560" y="550468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C7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 다 하는 곳이 없는 이유는 어려워서가 아니라 각자 자기 강점의 반대편이기 때문이다.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726680" y="4526280"/>
            <a:ext cx="3779215" cy="1600200"/>
          </a:xfrm>
          <a:prstGeom prst="roundRect">
            <a:avLst>
              <a:gd name="adj" fmla="val 3429"/>
            </a:avLst>
          </a:prstGeom>
          <a:solidFill>
            <a:srgbClr val="E8E1D5"/>
          </a:solidFill>
          <a:ln w="12700">
            <a:solidFill>
              <a:srgbClr val="DDD5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47091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진짜로 자주 지는 상대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46720" y="5029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상품권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046720" y="55046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8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그릇 선물의 최대 리스크는 겹침이고, 상품권은 그게 0이다.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86384"/>
            <a:ext cx="95399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5만 원, 무엇이 다른가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063240" y="1691640"/>
            <a:ext cx="2509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스마트스토어 3만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755538" y="1554480"/>
            <a:ext cx="2875178" cy="3310128"/>
          </a:xfrm>
          <a:prstGeom prst="rect">
            <a:avLst/>
          </a:prstGeom>
          <a:solidFill>
            <a:srgbClr val="FFFFFF"/>
          </a:solidFill>
          <a:ln w="19050">
            <a:solidFill>
              <a:srgbClr val="1F1C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38418" y="1691640"/>
            <a:ext cx="2509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5만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13597" y="1691640"/>
            <a:ext cx="2509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로파서울 5만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63240" y="2286000"/>
            <a:ext cx="2509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세트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938418" y="2286000"/>
            <a:ext cx="2509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세트 (2인 완결)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813597" y="2286000"/>
            <a:ext cx="2509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단품 1점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2852928"/>
            <a:ext cx="10820095" cy="7315"/>
          </a:xfrm>
          <a:prstGeom prst="rect">
            <a:avLst/>
          </a:prstGeom>
          <a:solidFill>
            <a:srgbClr val="DDD5C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9260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63240" y="2926080"/>
            <a:ext cx="2509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뽁뽁이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938418" y="2926080"/>
            <a:ext cx="2509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띠지 + 박스 + 완충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813597" y="2926080"/>
            <a:ext cx="2509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포장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3493008"/>
            <a:ext cx="10820095" cy="7315"/>
          </a:xfrm>
          <a:prstGeom prst="rect">
            <a:avLst/>
          </a:prstGeom>
          <a:solidFill>
            <a:srgbClr val="DDD5C8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5661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63240" y="3566160"/>
            <a:ext cx="2509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938418" y="3566160"/>
            <a:ext cx="2509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카드 + 손글씨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813597" y="3566160"/>
            <a:ext cx="2509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구매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85800" y="4133088"/>
            <a:ext cx="10820095" cy="7315"/>
          </a:xfrm>
          <a:prstGeom prst="rect">
            <a:avLst/>
          </a:prstGeom>
          <a:solidFill>
            <a:srgbClr val="DDD5C8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2062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겹칠 확률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063240" y="4206240"/>
            <a:ext cx="2509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낮음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938418" y="4206240"/>
            <a:ext cx="2509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813597" y="4206240"/>
            <a:ext cx="25094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높음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85800" y="4773168"/>
            <a:ext cx="10820095" cy="7315"/>
          </a:xfrm>
          <a:prstGeom prst="rect">
            <a:avLst/>
          </a:prstGeom>
          <a:solidFill>
            <a:srgbClr val="DDD5C8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51663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“안 겹칠 확률”은 로파서울에 진다. 도매 상품이니 당연하다.</a:t>
            </a:r>
            <a:endParaRPr lang="en-US" sz="14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그 항목으로 싸우지 않고 조합 · 포장 · 카드 세 칸으로 5만 원을 설명한다. 세 칸 다 우리가 이긴다.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1C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86384"/>
            <a:ext cx="95399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네이밍</a:t>
            </a:r>
            <a:endParaRPr lang="en-US" sz="3400" dirty="0"/>
          </a:p>
        </p:txBody>
      </p:sp>
      <p:pic>
        <p:nvPicPr>
          <p:cNvPr id="4" name="Image 0" descr="C:\Users\jaeeu\AppData\Local\Temp\claude\C--Users-jaeeu\06f91ebb-a71c-4845-a754-2648e82f428f\scratchpad\img\char-turtle-paper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tretch>
            <a:fillRect/>
          </a:stretch>
        </p:blipFill>
        <p:spPr>
          <a:xfrm>
            <a:off x="9052560" y="2377440"/>
            <a:ext cx="2468880" cy="2468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9202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오하리상점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731520" y="2926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600" kern="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 H A R I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85800" y="3703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뜻을 지지 않는 조어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749040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C7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업종은 “상점”이 설명한다. 어근은 소리만 담당한다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85800" y="421538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421538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소리가 따뜻할 것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749040" y="421538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C7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ㅇ·ㅎ·ㄹ에 받침 없음. 절제된 소리와는 온도가 어긋난다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85800" y="472744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05840" y="47274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어근 배제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749040" y="47274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C7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“담아·모아”는 파생 브랜드가 이미 많다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85800" y="523951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05840" y="52395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손그림 가능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749040" y="523951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C7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3음절 무받침. 워드마크가 곧 로고다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8580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KIPRIS 21류(식기) 비어 있음 · 인스타 커머스 계정 없음 · “오하리상점” 없음   |   대외 표기는 항상 오하리상점 / OHARI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86384"/>
            <a:ext cx="95399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거북이 세계관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517904"/>
            <a:ext cx="9722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설정집이 아니라 지리. 상징을 업무에 붙이지 못하면 그건 설정이지 세계가 아니다.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342381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2395728"/>
            <a:ext cx="28386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행운 (복)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78408" y="2798064"/>
            <a:ext cx="28386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거북이는 복을 지고 다닌다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78408" y="3182112"/>
            <a:ext cx="28386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D38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파는 건 그릇이 아니라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D38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누군가에게 보내는 복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83938" y="2194560"/>
            <a:ext cx="3423818" cy="1965960"/>
          </a:xfrm>
          <a:prstGeom prst="roundRect">
            <a:avLst>
              <a:gd name="adj" fmla="val 2791"/>
            </a:avLst>
          </a:prstGeom>
          <a:solidFill>
            <a:srgbClr val="1F1C19"/>
          </a:solidFill>
          <a:ln w="12700">
            <a:solidFill>
              <a:srgbClr val="DDD5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76546" y="2395728"/>
            <a:ext cx="28386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장수 (오래)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76546" y="2798064"/>
            <a:ext cx="28386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거북이는 오래 산다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76546" y="3182112"/>
            <a:ext cx="28386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FC7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소싱 기준.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FC7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유행 타는 그릇은 안 들인다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82077" y="2194560"/>
            <a:ext cx="342381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4685" y="2395728"/>
            <a:ext cx="28386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느림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74685" y="2798064"/>
            <a:ext cx="28386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거북이는 천천히 간다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74685" y="3182112"/>
            <a:ext cx="28386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D38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많이 올리지 않고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D38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골라서 낸다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85800" y="431596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거북이 때문에 안 사는 물건이 생긴다. 그게 세계관이 장식이 아닌 증거다.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5800" y="4956048"/>
            <a:ext cx="2017715" cy="841248"/>
          </a:xfrm>
          <a:prstGeom prst="rect">
            <a:avLst/>
          </a:prstGeom>
          <a:solidFill>
            <a:srgbClr val="E8E1D5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029200"/>
            <a:ext cx="17433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집들이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285232"/>
            <a:ext cx="17433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식탁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886395" y="4956048"/>
            <a:ext cx="2017715" cy="841248"/>
          </a:xfrm>
          <a:prstGeom prst="rect">
            <a:avLst/>
          </a:prstGeom>
          <a:solidFill>
            <a:srgbClr val="E8E1D5"/>
          </a:solidFill>
          <a:ln/>
        </p:spPr>
      </p:sp>
      <p:sp>
        <p:nvSpPr>
          <p:cNvPr id="22" name="Text 20"/>
          <p:cNvSpPr/>
          <p:nvPr/>
        </p:nvSpPr>
        <p:spPr>
          <a:xfrm>
            <a:off x="3023555" y="5029200"/>
            <a:ext cx="17433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결혼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23555" y="5285232"/>
            <a:ext cx="17433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둘이 쓰는 상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086990" y="4956048"/>
            <a:ext cx="2017715" cy="841248"/>
          </a:xfrm>
          <a:prstGeom prst="rect">
            <a:avLst/>
          </a:prstGeom>
          <a:solidFill>
            <a:srgbClr val="E8E1D5"/>
          </a:solidFill>
          <a:ln/>
        </p:spPr>
      </p:sp>
      <p:sp>
        <p:nvSpPr>
          <p:cNvPr id="25" name="Text 23"/>
          <p:cNvSpPr/>
          <p:nvPr/>
        </p:nvSpPr>
        <p:spPr>
          <a:xfrm>
            <a:off x="5224150" y="5029200"/>
            <a:ext cx="17433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24150" y="5285232"/>
            <a:ext cx="17433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 신세 진 상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287585" y="4956048"/>
            <a:ext cx="2017715" cy="841248"/>
          </a:xfrm>
          <a:prstGeom prst="rect">
            <a:avLst/>
          </a:prstGeom>
          <a:solidFill>
            <a:srgbClr val="E8E1D5"/>
          </a:solidFill>
          <a:ln/>
        </p:spPr>
      </p:sp>
      <p:sp>
        <p:nvSpPr>
          <p:cNvPr id="28" name="Text 26"/>
          <p:cNvSpPr/>
          <p:nvPr/>
        </p:nvSpPr>
        <p:spPr>
          <a:xfrm>
            <a:off x="7424745" y="5029200"/>
            <a:ext cx="17433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생일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24745" y="5285232"/>
            <a:ext cx="17433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사람의 자리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488180" y="4956048"/>
            <a:ext cx="2017715" cy="841248"/>
          </a:xfrm>
          <a:prstGeom prst="rect">
            <a:avLst/>
          </a:prstGeom>
          <a:solidFill>
            <a:srgbClr val="E8E1D5"/>
          </a:solidFill>
          <a:ln/>
        </p:spPr>
      </p:sp>
      <p:sp>
        <p:nvSpPr>
          <p:cNvPr id="31" name="Text 29"/>
          <p:cNvSpPr/>
          <p:nvPr/>
        </p:nvSpPr>
        <p:spPr>
          <a:xfrm>
            <a:off x="9625340" y="5029200"/>
            <a:ext cx="17433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나에게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25340" y="5285232"/>
            <a:ext cx="17433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상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580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회차 포맷 〈복 지고 간 상〉 — 세트 하나당 한 편, 300자. 어차피 써야 할 상품 설명에 형식과 번호를 붙인 것이라 제작비가 0에 수렴한다.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86384"/>
            <a:ext cx="95399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아이덴티티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517904"/>
            <a:ext cx="9722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그림은 사람이 정하고, 코드가 두께·크기·색을 맞춘다. 형태를 코드로 만들지 않는다.</a:t>
            </a:r>
            <a:endParaRPr lang="en-US" sz="1500" dirty="0"/>
          </a:p>
        </p:txBody>
      </p:sp>
      <p:pic>
        <p:nvPicPr>
          <p:cNvPr id="5" name="Image 0" descr="C:\Users\jaeeu\AppData\Local\Temp\claude\C--Users-jaeeu\06f91ebb-a71c-4845-a754-2648e82f428f\scratchpad\img\motif-plate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231136"/>
            <a:ext cx="704088" cy="704088"/>
          </a:xfrm>
          <a:prstGeom prst="rect">
            <a:avLst/>
          </a:prstGeom>
        </p:spPr>
      </p:pic>
      <p:pic>
        <p:nvPicPr>
          <p:cNvPr id="6" name="Image 1" descr="C:\Users\jaeeu\AppData\Local\Temp\claude\C--Users-jaeeu\06f91ebb-a71c-4845-a754-2648e82f428f\scratchpad\img\motif-bowl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776" y="2231136"/>
            <a:ext cx="704088" cy="704088"/>
          </a:xfrm>
          <a:prstGeom prst="rect">
            <a:avLst/>
          </a:prstGeom>
        </p:spPr>
      </p:pic>
      <p:pic>
        <p:nvPicPr>
          <p:cNvPr id="7" name="Image 2" descr="C:\Users\jaeeu\AppData\Local\Temp\claude\C--Users-jaeeu\06f91ebb-a71c-4845-a754-2648e82f428f\scratchpad\img\motif-cup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456" y="2231136"/>
            <a:ext cx="704088" cy="704088"/>
          </a:xfrm>
          <a:prstGeom prst="rect">
            <a:avLst/>
          </a:prstGeom>
        </p:spPr>
      </p:pic>
      <p:pic>
        <p:nvPicPr>
          <p:cNvPr id="8" name="Image 3" descr="C:\Users\jaeeu\AppData\Local\Temp\claude\C--Users-jaeeu\06f91ebb-a71c-4845-a754-2648e82f428f\scratchpad\img\motif-spoon-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136" y="2231136"/>
            <a:ext cx="704088" cy="704088"/>
          </a:xfrm>
          <a:prstGeom prst="rect">
            <a:avLst/>
          </a:prstGeom>
        </p:spPr>
      </p:pic>
      <p:pic>
        <p:nvPicPr>
          <p:cNvPr id="9" name="Image 4" descr="C:\Users\jaeeu\AppData\Local\Temp\claude\C--Users-jaeeu\06f91ebb-a71c-4845-a754-2648e82f428f\scratchpad\img\motif-fork-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2816" y="2231136"/>
            <a:ext cx="704088" cy="704088"/>
          </a:xfrm>
          <a:prstGeom prst="rect">
            <a:avLst/>
          </a:prstGeom>
        </p:spPr>
      </p:pic>
      <p:pic>
        <p:nvPicPr>
          <p:cNvPr id="10" name="Image 5" descr="C:\Users\jaeeu\AppData\Local\Temp\claude\C--Users-jaeeu\06f91ebb-a71c-4845-a754-2648e82f428f\scratchpad\img\motif-knife-in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1496" y="2231136"/>
            <a:ext cx="704088" cy="704088"/>
          </a:xfrm>
          <a:prstGeom prst="rect">
            <a:avLst/>
          </a:prstGeom>
        </p:spPr>
      </p:pic>
      <p:pic>
        <p:nvPicPr>
          <p:cNvPr id="11" name="Image 6" descr="C:\Users\jaeeu\AppData\Local\Temp\claude\C--Users-jaeeu\06f91ebb-a71c-4845-a754-2648e82f428f\scratchpad\img\motif-flower-in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0176" y="2231136"/>
            <a:ext cx="704088" cy="704088"/>
          </a:xfrm>
          <a:prstGeom prst="rect">
            <a:avLst/>
          </a:prstGeom>
        </p:spPr>
      </p:pic>
      <p:pic>
        <p:nvPicPr>
          <p:cNvPr id="12" name="Image 7" descr="C:\Users\jaeeu\AppData\Local\Temp\claude\C--Users-jaeeu\06f91ebb-a71c-4845-a754-2648e82f428f\scratchpad\img\motif-vase-in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8856" y="2231136"/>
            <a:ext cx="704088" cy="704088"/>
          </a:xfrm>
          <a:prstGeom prst="rect">
            <a:avLst/>
          </a:prstGeom>
        </p:spPr>
      </p:pic>
      <p:pic>
        <p:nvPicPr>
          <p:cNvPr id="13" name="Image 8" descr="C:\Users\jaeeu\AppData\Local\Temp\claude\C--Users-jaeeu\06f91ebb-a71c-4845-a754-2648e82f428f\scratchpad\img\motif-candle-in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096" y="3099816"/>
            <a:ext cx="704088" cy="704088"/>
          </a:xfrm>
          <a:prstGeom prst="rect">
            <a:avLst/>
          </a:prstGeom>
        </p:spPr>
      </p:pic>
      <p:pic>
        <p:nvPicPr>
          <p:cNvPr id="14" name="Image 9" descr="C:\Users\jaeeu\AppData\Local\Temp\claude\C--Users-jaeeu\06f91ebb-a71c-4845-a754-2648e82f428f\scratchpad\img\motif-ribbon-in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36776" y="3099816"/>
            <a:ext cx="704088" cy="704088"/>
          </a:xfrm>
          <a:prstGeom prst="rect">
            <a:avLst/>
          </a:prstGeom>
        </p:spPr>
      </p:pic>
      <p:pic>
        <p:nvPicPr>
          <p:cNvPr id="15" name="Image 10" descr="C:\Users\jaeeu\AppData\Local\Temp\claude\C--Users-jaeeu\06f91ebb-a71c-4845-a754-2648e82f428f\scratchpad\img\motif-book-in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05456" y="3099816"/>
            <a:ext cx="704088" cy="704088"/>
          </a:xfrm>
          <a:prstGeom prst="rect">
            <a:avLst/>
          </a:prstGeom>
        </p:spPr>
      </p:pic>
      <p:pic>
        <p:nvPicPr>
          <p:cNvPr id="16" name="Image 11" descr="C:\Users\jaeeu\AppData\Local\Temp\claude\C--Users-jaeeu\06f91ebb-a71c-4845-a754-2648e82f428f\scratchpad\img\motif-heart-in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74136" y="3099816"/>
            <a:ext cx="704088" cy="704088"/>
          </a:xfrm>
          <a:prstGeom prst="rect">
            <a:avLst/>
          </a:prstGeom>
        </p:spPr>
      </p:pic>
      <p:pic>
        <p:nvPicPr>
          <p:cNvPr id="17" name="Image 12" descr="C:\Users\jaeeu\AppData\Local\Temp\claude\C--Users-jaeeu\06f91ebb-a71c-4845-a754-2648e82f428f\scratchpad\img\motif-clover-ink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42816" y="3099816"/>
            <a:ext cx="704088" cy="704088"/>
          </a:xfrm>
          <a:prstGeom prst="rect">
            <a:avLst/>
          </a:prstGeom>
        </p:spPr>
      </p:pic>
      <p:pic>
        <p:nvPicPr>
          <p:cNvPr id="18" name="Image 13" descr="C:\Users\jaeeu\AppData\Local\Temp\claude\C--Users-jaeeu\06f91ebb-a71c-4845-a754-2648e82f428f\scratchpad\img\motif-star-ink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11496" y="3099816"/>
            <a:ext cx="704088" cy="704088"/>
          </a:xfrm>
          <a:prstGeom prst="rect">
            <a:avLst/>
          </a:prstGeom>
        </p:spPr>
      </p:pic>
      <p:pic>
        <p:nvPicPr>
          <p:cNvPr id="19" name="Image 14" descr="C:\Users\jaeeu\AppData\Local\Temp\claude\C--Users-jaeeu\06f91ebb-a71c-4845-a754-2648e82f428f\scratchpad\img\motif-fish-ink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80176" y="3099816"/>
            <a:ext cx="704088" cy="704088"/>
          </a:xfrm>
          <a:prstGeom prst="rect">
            <a:avLst/>
          </a:prstGeom>
        </p:spPr>
      </p:pic>
      <p:pic>
        <p:nvPicPr>
          <p:cNvPr id="20" name="Image 15" descr="C:\Users\jaeeu\AppData\Local\Temp\claude\C--Users-jaeeu\06f91ebb-a71c-4845-a754-2648e82f428f\scratchpad\img\motif-pear-ink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48856" y="3099816"/>
            <a:ext cx="704088" cy="704088"/>
          </a:xfrm>
          <a:prstGeom prst="rect">
            <a:avLst/>
          </a:prstGeom>
        </p:spPr>
      </p:pic>
      <p:pic>
        <p:nvPicPr>
          <p:cNvPr id="21" name="Image 16" descr="C:\Users\jaeeu\AppData\Local\Temp\claude\C--Users-jaeeu\06f91ebb-a71c-4845-a754-2648e82f428f\scratchpad\img\char-turtle-ink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2960" y="4023360"/>
            <a:ext cx="1371600" cy="1371600"/>
          </a:xfrm>
          <a:prstGeom prst="rect">
            <a:avLst/>
          </a:prstGeom>
        </p:spPr>
      </p:pic>
      <p:sp>
        <p:nvSpPr>
          <p:cNvPr id="22" name="Text 3"/>
          <p:cNvSpPr/>
          <p:nvPr/>
        </p:nvSpPr>
        <p:spPr>
          <a:xfrm>
            <a:off x="2331720" y="4343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모티프 16종 + 거북이</a:t>
            </a:r>
            <a:endParaRPr lang="en-US" sz="1700" dirty="0"/>
          </a:p>
        </p:txBody>
      </p:sp>
      <p:sp>
        <p:nvSpPr>
          <p:cNvPr id="23" name="Text 4"/>
          <p:cNvSpPr/>
          <p:nvPr/>
        </p:nvSpPr>
        <p:spPr>
          <a:xfrm>
            <a:off x="2331720" y="47274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시트를 그대로 벡터화한 정본. 손이 그은 선의 떨림과 비대칭이 남는다.</a:t>
            </a:r>
            <a:endParaRPr lang="en-US" sz="1250" dirty="0"/>
          </a:p>
        </p:txBody>
      </p:sp>
      <p:sp>
        <p:nvSpPr>
          <p:cNvPr id="24" name="Text 5"/>
          <p:cNvSpPr/>
          <p:nvPr/>
        </p:nvSpPr>
        <p:spPr>
          <a:xfrm>
            <a:off x="8092440" y="2148840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컬러</a:t>
            </a:r>
            <a:endParaRPr lang="en-US" sz="1200" dirty="0"/>
          </a:p>
        </p:txBody>
      </p:sp>
      <p:sp>
        <p:nvSpPr>
          <p:cNvPr id="25" name="Text 6"/>
          <p:cNvSpPr/>
          <p:nvPr/>
        </p:nvSpPr>
        <p:spPr>
          <a:xfrm>
            <a:off x="8092440" y="2441448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D38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잉크 단색. 포인트 컬러를 쓰지 않는다 — 따뜻함의 예산은 이미 그림이 쓰고 있다</a:t>
            </a:r>
            <a:endParaRPr lang="en-US" sz="1350" dirty="0"/>
          </a:p>
        </p:txBody>
      </p:sp>
      <p:sp>
        <p:nvSpPr>
          <p:cNvPr id="26" name="Text 7"/>
          <p:cNvSpPr/>
          <p:nvPr/>
        </p:nvSpPr>
        <p:spPr>
          <a:xfrm>
            <a:off x="8092440" y="3200400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타이포</a:t>
            </a:r>
            <a:endParaRPr lang="en-US" sz="1200" dirty="0"/>
          </a:p>
        </p:txBody>
      </p:sp>
      <p:sp>
        <p:nvSpPr>
          <p:cNvPr id="27" name="Text 8"/>
          <p:cNvSpPr/>
          <p:nvPr/>
        </p:nvSpPr>
        <p:spPr>
          <a:xfrm>
            <a:off x="8092440" y="3493008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D38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Wanted Sans 400 / 700. 제목 자리를 손그림이 맡으므로 서체는 담백하게</a:t>
            </a:r>
            <a:endParaRPr lang="en-US" sz="1350" dirty="0"/>
          </a:p>
        </p:txBody>
      </p:sp>
      <p:sp>
        <p:nvSpPr>
          <p:cNvPr id="28" name="Text 9"/>
          <p:cNvSpPr/>
          <p:nvPr/>
        </p:nvSpPr>
        <p:spPr>
          <a:xfrm>
            <a:off x="8092440" y="4251960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</a:t>
            </a:r>
            <a:endParaRPr lang="en-US" sz="1200" dirty="0"/>
          </a:p>
        </p:txBody>
      </p:sp>
      <p:sp>
        <p:nvSpPr>
          <p:cNvPr id="29" name="Text 10"/>
          <p:cNvSpPr/>
          <p:nvPr/>
        </p:nvSpPr>
        <p:spPr>
          <a:xfrm>
            <a:off x="8092440" y="4544568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D38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손그림 워드마크 단독. 심볼은 만들지 않는다 — 그림이 둘이면 서로를 깎는다</a:t>
            </a:r>
            <a:endParaRPr lang="en-US" sz="1350" dirty="0"/>
          </a:p>
        </p:txBody>
      </p:sp>
      <p:sp>
        <p:nvSpPr>
          <p:cNvPr id="30" name="Text 11"/>
          <p:cNvSpPr/>
          <p:nvPr/>
        </p:nvSpPr>
        <p:spPr>
          <a:xfrm>
            <a:off x="8092440" y="5303520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회피</a:t>
            </a:r>
            <a:endParaRPr lang="en-US" sz="1200" dirty="0"/>
          </a:p>
        </p:txBody>
      </p:sp>
      <p:sp>
        <p:nvSpPr>
          <p:cNvPr id="31" name="Text 12"/>
          <p:cNvSpPr/>
          <p:nvPr/>
        </p:nvSpPr>
        <p:spPr>
          <a:xfrm>
            <a:off x="8092440" y="5596128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D38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파스텔 · 기계적 대칭 · 그라디언트 · “AI티”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86384"/>
            <a:ext cx="95399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포장이 곧 상품이다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517904"/>
            <a:ext cx="9722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도매 상품이라 우리가 만드는 건 조합 · 포장 · 문장 셋뿐이다. 그래서 패키징이 최우선이다.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51206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774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2겹 구조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279806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D38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겉  ·  무지 택배 상자 — 운송 · 완충 · 송장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D38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 ·  자체 디자인 선물 박스 — 받는 사람이 여는 것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5840" y="35661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박스가 깨끗한 상태로 도착하고, 완충을 겉에서 해결한다.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2194560"/>
            <a:ext cx="5425135" cy="1828800"/>
          </a:xfrm>
          <a:prstGeom prst="roundRect">
            <a:avLst>
              <a:gd name="adj" fmla="val 3000"/>
            </a:avLst>
          </a:prstGeom>
          <a:solidFill>
            <a:srgbClr val="1F1C19"/>
          </a:solidFill>
          <a:ln w="12700">
            <a:solidFill>
              <a:srgbClr val="DDD5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3774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 사양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0" y="27980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기성 화이트 박스 · 한 사이즈 · 1도 블랙 · 디자인 1~2종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3291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FC7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기성 규격이라 목형비가 없다. 남는 비용은 인쇄판비 · 개당 단가 · MOQ뿐.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4315968"/>
            <a:ext cx="10820095" cy="932688"/>
          </a:xfrm>
          <a:prstGeom prst="rect">
            <a:avLst/>
          </a:prstGeom>
          <a:solidFill>
            <a:srgbClr val="E8E1D5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315968"/>
            <a:ext cx="101800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한 사이즈의 대가 — 세트 구성의 상한과 하한이 박스로 정해진다. 박스에 안 들어가는 세트는 만들지 않는다.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5440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 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57424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38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명함  ·  엽서(회차 마지막 한 줄 + 거북이)  ·  띠지(상황 이름)  ·  법정 표시 라벨 7항목  ·  손그림 인쇄 완충지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86384"/>
            <a:ext cx="95399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파는가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517904"/>
            <a:ext cx="9722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29CM는 자체 브랜드 상품만 받고, 카카오 선물하기는 자체 브랜드와 인지도를 심사한다. 둘 다 출발점이 아니라 목표다.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2533574" cy="2286000"/>
          </a:xfrm>
          <a:prstGeom prst="roundRect">
            <a:avLst>
              <a:gd name="adj" fmla="val 2400"/>
            </a:avLst>
          </a:prstGeom>
          <a:solidFill>
            <a:srgbClr val="1F1C19"/>
          </a:solidFill>
          <a:ln w="12700">
            <a:solidFill>
              <a:srgbClr val="DDD5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487168"/>
            <a:ext cx="19849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7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816352"/>
            <a:ext cx="19849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0~6개월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3246120"/>
            <a:ext cx="19849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FC7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자사몰 · 스마트스토어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FC7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톡스토어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4023360"/>
            <a:ext cx="19849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· 리뷰 · CS 기록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37662" y="310896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47974" y="2286000"/>
            <a:ext cx="2533574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22294" y="2487168"/>
            <a:ext cx="19849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22294" y="2816352"/>
            <a:ext cx="19849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3~9개월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22294" y="3246120"/>
            <a:ext cx="19849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38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텐바이텐 · 아이디어스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38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오브젝트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22294" y="4023360"/>
            <a:ext cx="19849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브랜드로 팔린 이력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99836" y="310896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10148" y="2286000"/>
            <a:ext cx="2533574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84468" y="2487168"/>
            <a:ext cx="19849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84468" y="2816352"/>
            <a:ext cx="19849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9~18개월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84468" y="3246120"/>
            <a:ext cx="19849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38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29CM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84468" y="4023360"/>
            <a:ext cx="19849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톤이 맞는 트래픽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762009" y="310896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972321" y="2286000"/>
            <a:ext cx="2533574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46641" y="2487168"/>
            <a:ext cx="19849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46641" y="2816352"/>
            <a:ext cx="19849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12개월~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246641" y="3246120"/>
            <a:ext cx="19849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38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선물하기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46641" y="4023360"/>
            <a:ext cx="19849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85800" y="4846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3이 마지막인 이유는 심사 기준에 “인지도”가 들어 있기 때문이다. 인지도는 Tier 0~2에서 만들어진다.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85800" y="53949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자사몰 필수 기능 · 링크로 보내기 — 주소를 몰라 못 보내는 경우가 실제로 많다. Tier 3 이전에도 그 수요를 일부 받는다.</a:t>
            </a:r>
            <a:endParaRPr lang="en-US" sz="1350" dirty="0"/>
          </a:p>
        </p:txBody>
      </p:sp>
      <p:pic>
        <p:nvPicPr>
          <p:cNvPr id="30" name="Image 0" descr="C:\Users\jaeeu\AppData\Local\Temp\claude\C--Users-jaeeu\06f91ebb-a71c-4845-a754-2648e82f428f\scratchpad\img\char-turtle-ink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10820095" y="562356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86384"/>
            <a:ext cx="95399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3단계로 키운다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20095" cy="1298448"/>
          </a:xfrm>
          <a:prstGeom prst="roundRect">
            <a:avLst>
              <a:gd name="adj" fmla="val 4225"/>
            </a:avLst>
          </a:prstGeom>
          <a:solidFill>
            <a:srgbClr val="1F1C19"/>
          </a:solidFill>
          <a:ln w="12700">
            <a:solidFill>
              <a:srgbClr val="DDD5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07568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691640" y="20391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0~9개월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91640" y="23500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포장이 곧 상품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00600" y="216712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FC7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 · 띠지 · 카드 · 스티커 · 완충지에 그림이 산다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89720" y="21671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7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고른 이유가 보이는 선물가게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3227832"/>
            <a:ext cx="10820095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5204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DD5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691640" y="34838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9~18개월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91640" y="3794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소량 PB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00600" y="36118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D38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도자기 전사 · 머그 프린트로 그림을 상품에 얹는다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189720" y="3611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그림 그릇 파는 곳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4672584"/>
            <a:ext cx="10820095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96519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DD5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691640" y="492861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18개월~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91640" y="52395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공방 콜라보 + 굿즈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00600" y="505663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D38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 있는 공방과 “우리 그림 × 그 공방”으로 묶는다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189720" y="505663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8580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공방을 찾아 브랜드를 세우는 게 아니라, 브랜드를 세워 놓고 공방을 끌어온다. 협상력이 반대로 붙는다.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1C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86384"/>
            <a:ext cx="95399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</a:t>
            </a:r>
            <a:endParaRPr lang="en-US" sz="3400" dirty="0"/>
          </a:p>
        </p:txBody>
      </p:sp>
      <p:pic>
        <p:nvPicPr>
          <p:cNvPr id="4" name="Image 0" descr="C:\Users\jaeeu\AppData\Local\Temp\claude\C--Users-jaeeu\06f91ebb-a71c-4845-a754-2648e82f428f\scratchpad\img\char-turtle-paper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9509760" y="4480560"/>
            <a:ext cx="1920240" cy="1920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바로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2103120"/>
            <a:ext cx="384048" cy="384048"/>
          </a:xfrm>
          <a:prstGeom prst="rect">
            <a:avLst/>
          </a:prstGeom>
          <a:solidFill>
            <a:srgbClr val="F7F3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34440" y="20848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세트 구성 확정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34440" y="24323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FC7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 사이즈 · 라벨 표기 · 회차 글이 전부 여기서 갈라진다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3035808"/>
            <a:ext cx="384048" cy="384048"/>
          </a:xfrm>
          <a:prstGeom prst="rect">
            <a:avLst/>
          </a:prstGeom>
          <a:solidFill>
            <a:srgbClr val="F7F3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34440" y="3017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상표 · 핸들 선점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34440" y="33649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FC7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KIPRIS 21류 출원 · 인스타 · 도메인 · 스마트스토어 URL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85800" y="3968496"/>
            <a:ext cx="384048" cy="384048"/>
          </a:xfrm>
          <a:prstGeom prst="rect">
            <a:avLst/>
          </a:prstGeom>
          <a:solidFill>
            <a:srgbClr val="F7F3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234440" y="39502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34440" y="4297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FC7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손그림 워드마크 — 손으로 쓴 시트를 벡터화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85800" y="4901184"/>
            <a:ext cx="384048" cy="384048"/>
          </a:xfrm>
          <a:prstGeom prst="rect">
            <a:avLst/>
          </a:prstGeom>
          <a:solidFill>
            <a:srgbClr val="F7F3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C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234440" y="48828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축적 시작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34440" y="52303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FC7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〈복 지고 간 상〉을 런칭 전부터 쓴다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72084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8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 있는 리스크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720840" y="2249424"/>
            <a:ext cx="91440" cy="91440"/>
          </a:xfrm>
          <a:prstGeom prst="rect">
            <a:avLst/>
          </a:prstGeom>
          <a:solidFill>
            <a:srgbClr val="8C8177"/>
          </a:solidFill>
          <a:ln/>
        </p:spPr>
      </p:sp>
      <p:sp>
        <p:nvSpPr>
          <p:cNvPr id="20" name="Text 17"/>
          <p:cNvSpPr/>
          <p:nvPr/>
        </p:nvSpPr>
        <p:spPr>
          <a:xfrm>
            <a:off x="6995160" y="20848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초기엔 축적이 없다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995160" y="243230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FC7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런칭 6개월이 가장 취약하다. 인정하고 시작한다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720840" y="3182112"/>
            <a:ext cx="91440" cy="91440"/>
          </a:xfrm>
          <a:prstGeom prst="rect">
            <a:avLst/>
          </a:prstGeom>
          <a:solidFill>
            <a:srgbClr val="8C8177"/>
          </a:solidFill>
          <a:ln/>
        </p:spPr>
      </p:sp>
      <p:sp>
        <p:nvSpPr>
          <p:cNvPr id="23" name="Text 20"/>
          <p:cNvSpPr/>
          <p:nvPr/>
        </p:nvSpPr>
        <p:spPr>
          <a:xfrm>
            <a:off x="6995160" y="3017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도매라 상품이 겹친다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995160" y="33649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FC7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단품으로 싸우지 않는다. 조합 · 포장으로 비교 기준을 옮긴다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720840" y="4114800"/>
            <a:ext cx="91440" cy="91440"/>
          </a:xfrm>
          <a:prstGeom prst="rect">
            <a:avLst/>
          </a:prstGeom>
          <a:solidFill>
            <a:srgbClr val="8C8177"/>
          </a:solidFill>
          <a:ln/>
        </p:spPr>
      </p:sp>
      <p:sp>
        <p:nvSpPr>
          <p:cNvPr id="26" name="Text 23"/>
          <p:cNvSpPr/>
          <p:nvPr/>
        </p:nvSpPr>
        <p:spPr>
          <a:xfrm>
            <a:off x="6995160" y="39502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인쇄 MOQ · 재고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6995160" y="4297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FC7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사이즈 + 1도로 줄였다. 부담되면 초기엔 스탬프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720840" y="5047488"/>
            <a:ext cx="91440" cy="91440"/>
          </a:xfrm>
          <a:prstGeom prst="rect">
            <a:avLst/>
          </a:prstGeom>
          <a:solidFill>
            <a:srgbClr val="8C8177"/>
          </a:solidFill>
          <a:ln/>
        </p:spPr>
      </p:sp>
      <p:sp>
        <p:nvSpPr>
          <p:cNvPr id="29" name="Text 26"/>
          <p:cNvSpPr/>
          <p:nvPr/>
        </p:nvSpPr>
        <p:spPr>
          <a:xfrm>
            <a:off x="6995160" y="48828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의존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6995160" y="52303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FC7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해자의 뒷면이라 제거할 수 없다. 판단을 문서로 남긴다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685800" y="5806440"/>
            <a:ext cx="1188720" cy="18288"/>
          </a:xfrm>
          <a:prstGeom prst="rect">
            <a:avLst/>
          </a:prstGeom>
          <a:solidFill>
            <a:srgbClr val="5A534C"/>
          </a:solidFill>
          <a:ln/>
        </p:spPr>
      </p:sp>
      <p:sp>
        <p:nvSpPr>
          <p:cNvPr id="32" name="Text 29"/>
          <p:cNvSpPr/>
          <p:nvPr/>
        </p:nvSpPr>
        <p:spPr>
          <a:xfrm>
            <a:off x="685800" y="6035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골라서 모으고, 싸서 보냅니다.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오하리상점 브랜드 기획</dc:title>
  <dc:subject>PptxGenJS Presentation</dc:subject>
  <dc:creator>오하리상점</dc:creator>
  <cp:lastModifiedBy>오하리상점</cp:lastModifiedBy>
  <cp:revision>1</cp:revision>
  <dcterms:created xsi:type="dcterms:W3CDTF">2026-08-30T10:48:06Z</dcterms:created>
  <dcterms:modified xsi:type="dcterms:W3CDTF">2026-08-30T10:48:06Z</dcterms:modified>
</cp:coreProperties>
</file>